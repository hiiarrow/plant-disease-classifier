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82B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645920"/>
            <a:ext cx="103327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3400" b="1">
                <a:solidFill>
                  <a:srgbClr val="FFFFFF"/>
                </a:solidFill>
                <a:latin typeface="Calibri"/>
              </a:defRPr>
            </a:pPr>
            <a:r>
              <a:t>Attention-Gated Lightweight Neural Networks &amp; XAI for 38-Class Foliar Disease Diagnosis</a:t>
            </a:r>
          </a:p>
          <a:p>
            <a:pPr>
              <a:spcAft>
                <a:spcPts val="2800"/>
              </a:spcAft>
              <a:defRPr sz="1800">
                <a:solidFill>
                  <a:srgbClr val="A8DAB5"/>
                </a:solidFill>
                <a:latin typeface="Calibri"/>
              </a:defRPr>
            </a:pPr>
            <a:r>
              <a:t>Novel Spatial-Channel Attention (CBAM), Grad-CAM Visual Attribution, &amp; Energy-Based OOD Safety Filtering</a:t>
            </a:r>
          </a:p>
          <a:p>
            <a:pPr>
              <a:defRPr sz="1300">
                <a:solidFill>
                  <a:srgbClr val="C8D2E1"/>
                </a:solidFill>
                <a:latin typeface="Calibri"/>
              </a:defRPr>
            </a:pPr>
            <a:r>
              <a:t>Architecture: Attention-MobileNetV3 | Dataset: PlantVillage (14 Crops, 38 Classes, 54.3k Images) | UI: Streamlit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107C41"/>
                </a:solidFill>
                <a:latin typeface="Calibri"/>
              </a:defRPr>
            </a:pPr>
            <a:r>
              <a:t>ATTENTION-GATED DL &amp; XAI PLANT DIAGNOSTICS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182B49"/>
                </a:solidFill>
                <a:latin typeface="Calibri"/>
              </a:defRPr>
            </a:pPr>
            <a:r>
              <a:t>Research Motivation &amp; Field AI Bottlenecks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3291840" cy="4389120"/>
          </a:xfrm>
          <a:prstGeom prst="roundRect">
            <a:avLst/>
          </a:prstGeom>
          <a:solidFill>
            <a:srgbClr val="FFFFFF"/>
          </a:solidFill>
          <a:ln>
            <a:solidFill>
              <a:srgbClr val="DAE0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920240"/>
            <a:ext cx="292608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107C41"/>
                </a:solidFill>
              </a:defRPr>
            </a:pPr>
            <a:r>
              <a:t>BACKGROUND NOISE INTERFERENCE</a:t>
            </a:r>
          </a:p>
          <a:p>
            <a:pPr>
              <a:spcAft>
                <a:spcPts val="1400"/>
              </a:spcAft>
              <a:defRPr sz="1800" b="1">
                <a:solidFill>
                  <a:srgbClr val="182B49"/>
                </a:solidFill>
              </a:defRPr>
            </a:pPr>
            <a:r>
              <a:t>Visual Clutter Bottleneck</a:t>
            </a:r>
          </a:p>
          <a:p>
            <a:pPr>
              <a:defRPr sz="1300">
                <a:solidFill>
                  <a:srgbClr val="212529"/>
                </a:solidFill>
              </a:defRPr>
            </a:pPr>
            <a:r>
              <a:t>Standard CNNs struggle with background soil, pot rims, and shadows. Attention mechanisms are needed to isolate micro-lesions.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0" y="1645920"/>
            <a:ext cx="3291840" cy="4389120"/>
          </a:xfrm>
          <a:prstGeom prst="roundRect">
            <a:avLst/>
          </a:prstGeom>
          <a:solidFill>
            <a:srgbClr val="FFFFFF"/>
          </a:solidFill>
          <a:ln>
            <a:solidFill>
              <a:srgbClr val="DAE0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0" y="1920240"/>
            <a:ext cx="292608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107C41"/>
                </a:solidFill>
              </a:defRPr>
            </a:pPr>
            <a:r>
              <a:t>BLACK-BOX DIAGNOSES</a:t>
            </a:r>
          </a:p>
          <a:p>
            <a:pPr>
              <a:spcAft>
                <a:spcPts val="1400"/>
              </a:spcAft>
              <a:defRPr sz="1800" b="1">
                <a:solidFill>
                  <a:srgbClr val="182B49"/>
                </a:solidFill>
              </a:defRPr>
            </a:pPr>
            <a:r>
              <a:t>Agronomist Trust Deficit</a:t>
            </a:r>
          </a:p>
          <a:p>
            <a:pPr>
              <a:defRPr sz="1300">
                <a:solidFill>
                  <a:srgbClr val="212529"/>
                </a:solidFill>
              </a:defRPr>
            </a:pPr>
            <a:r>
              <a:t>Farmers &amp; agronomists require explainable visual proof (Grad-CAM heatmaps) to verify why a specific disease was diagnosed.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46720" y="1645920"/>
            <a:ext cx="3291840" cy="4389120"/>
          </a:xfrm>
          <a:prstGeom prst="roundRect">
            <a:avLst/>
          </a:prstGeom>
          <a:solidFill>
            <a:srgbClr val="FFFFFF"/>
          </a:solidFill>
          <a:ln>
            <a:solidFill>
              <a:srgbClr val="DAE0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0" y="1920240"/>
            <a:ext cx="292608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107C41"/>
                </a:solidFill>
              </a:defRPr>
            </a:pPr>
            <a:r>
              <a:t>FALSE DIAGNOSES ON NON-LEAVES</a:t>
            </a:r>
          </a:p>
          <a:p>
            <a:pPr>
              <a:spcAft>
                <a:spcPts val="1400"/>
              </a:spcAft>
              <a:defRPr sz="1800" b="1">
                <a:solidFill>
                  <a:srgbClr val="182B49"/>
                </a:solidFill>
              </a:defRPr>
            </a:pPr>
            <a:r>
              <a:t>OOD Vulnerability</a:t>
            </a:r>
          </a:p>
          <a:p>
            <a:pPr>
              <a:defRPr sz="1300">
                <a:solidFill>
                  <a:srgbClr val="212529"/>
                </a:solidFill>
              </a:defRPr>
            </a:pPr>
            <a:r>
              <a:t>Deployments produce false positives on non-leaf images. Energy-based OOD filtering is essential for real-world field safety.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107C41"/>
                </a:solidFill>
                <a:latin typeface="Calibri"/>
              </a:defRPr>
            </a:pPr>
            <a:r>
              <a:t>ATTENTION-GATED DL &amp; XAI PLANT DIAGNOSTICS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182B49"/>
                </a:solidFill>
                <a:latin typeface="Calibri"/>
              </a:defRPr>
            </a:pPr>
            <a:r>
              <a:t>Four Core Research Novelties &amp; Contributions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554480"/>
            <a:ext cx="10698480" cy="914400"/>
          </a:xfrm>
          <a:prstGeom prst="roundRect">
            <a:avLst/>
          </a:prstGeom>
          <a:solidFill>
            <a:srgbClr val="FFFFFF"/>
          </a:solidFill>
          <a:ln>
            <a:solidFill>
              <a:srgbClr val="DAE0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645920"/>
            <a:ext cx="10332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400">
                <a:solidFill>
                  <a:srgbClr val="182B49"/>
                </a:solidFill>
              </a:defRPr>
            </a:pPr>
            <a:r>
              <a:t>01  |  Attention-Gated MobileNetV3 (CBAM): </a:t>
            </a:r>
            <a:r>
              <a:rPr b="0">
                <a:solidFill>
                  <a:srgbClr val="212529"/>
                </a:solidFill>
              </a:rPr>
              <a:t>Integrates Channel and Spatial Attention to concentrate gradient updates on small foliar lesion spots.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2651760"/>
            <a:ext cx="10698480" cy="914400"/>
          </a:xfrm>
          <a:prstGeom prst="roundRect">
            <a:avLst/>
          </a:prstGeom>
          <a:solidFill>
            <a:srgbClr val="FFFFFF"/>
          </a:solidFill>
          <a:ln>
            <a:solidFill>
              <a:srgbClr val="DAE0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743200"/>
            <a:ext cx="10332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400">
                <a:solidFill>
                  <a:srgbClr val="182B49"/>
                </a:solidFill>
              </a:defRPr>
            </a:pPr>
            <a:r>
              <a:t>02  |  Explainable AI (Grad-CAM Integration): </a:t>
            </a:r>
            <a:r>
              <a:rPr b="0">
                <a:solidFill>
                  <a:srgbClr val="212529"/>
                </a:solidFill>
              </a:rPr>
              <a:t>Generates real-time visual attribution heatmaps overlaying input leaves for transparent agronomic verification.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3749039"/>
            <a:ext cx="10698480" cy="914400"/>
          </a:xfrm>
          <a:prstGeom prst="roundRect">
            <a:avLst/>
          </a:prstGeom>
          <a:solidFill>
            <a:srgbClr val="FFFFFF"/>
          </a:solidFill>
          <a:ln>
            <a:solidFill>
              <a:srgbClr val="DAE0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840479"/>
            <a:ext cx="10332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400">
                <a:solidFill>
                  <a:srgbClr val="182B49"/>
                </a:solidFill>
              </a:defRPr>
            </a:pPr>
            <a:r>
              <a:t>03  |  Energy-Based OOD Safety Detector: </a:t>
            </a:r>
            <a:r>
              <a:rPr b="0">
                <a:solidFill>
                  <a:srgbClr val="212529"/>
                </a:solidFill>
              </a:rPr>
              <a:t>Evaluates softmax entropy &amp; energy scores to reject non-leaf or out-of-distribution uploads gracefully.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4846320"/>
            <a:ext cx="10698480" cy="914400"/>
          </a:xfrm>
          <a:prstGeom prst="roundRect">
            <a:avLst/>
          </a:prstGeom>
          <a:solidFill>
            <a:srgbClr val="FFFFFF"/>
          </a:solidFill>
          <a:ln>
            <a:solidFill>
              <a:srgbClr val="DAE0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4937760"/>
            <a:ext cx="10332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400">
                <a:solidFill>
                  <a:srgbClr val="182B49"/>
                </a:solidFill>
              </a:defRPr>
            </a:pPr>
            <a:r>
              <a:t>04  |  Full 38-Class PlantVillage Deployment: </a:t>
            </a:r>
            <a:r>
              <a:rPr b="0">
                <a:solidFill>
                  <a:srgbClr val="212529"/>
                </a:solidFill>
              </a:rPr>
              <a:t>Scales taxonomy to 14 crops and 38 conditions with automated chemical &amp; biological treatment advisories.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107C41"/>
                </a:solidFill>
                <a:latin typeface="Calibri"/>
              </a:defRPr>
            </a:pPr>
            <a:r>
              <a:t>ATTENTION-GATED DL &amp; XAI PLANT DIAGNOSTICS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182B49"/>
                </a:solidFill>
                <a:latin typeface="Calibri"/>
              </a:defRPr>
            </a:pPr>
            <a:r>
              <a:t>Full 38-Class PlantVillage Taxonomy Across 14 Crops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2560320" cy="1280160"/>
          </a:xfrm>
          <a:prstGeom prst="roundRect">
            <a:avLst/>
          </a:prstGeom>
          <a:solidFill>
            <a:srgbClr val="EBF1F8"/>
          </a:solidFill>
          <a:ln>
            <a:solidFill>
              <a:srgbClr val="BED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737360"/>
            <a:ext cx="2286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400">
                <a:solidFill>
                  <a:srgbClr val="182B49"/>
                </a:solidFill>
              </a:defRPr>
            </a:pPr>
            <a:r>
              <a:t>Apple (4)</a:t>
            </a:r>
          </a:p>
          <a:p>
            <a:pPr>
              <a:defRPr sz="1100">
                <a:solidFill>
                  <a:srgbClr val="212529"/>
                </a:solidFill>
              </a:defRPr>
            </a:pPr>
            <a:r>
              <a:t>Scab, Black Rot, Cedar Rust, Healthy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29000" y="1645920"/>
            <a:ext cx="2560320" cy="1280160"/>
          </a:xfrm>
          <a:prstGeom prst="roundRect">
            <a:avLst/>
          </a:prstGeom>
          <a:solidFill>
            <a:srgbClr val="EBF1F8"/>
          </a:solidFill>
          <a:ln>
            <a:solidFill>
              <a:srgbClr val="BED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566160" y="1737360"/>
            <a:ext cx="2286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400">
                <a:solidFill>
                  <a:srgbClr val="182B49"/>
                </a:solidFill>
              </a:defRPr>
            </a:pPr>
            <a:r>
              <a:t>Corn (4)</a:t>
            </a:r>
          </a:p>
          <a:p>
            <a:pPr>
              <a:defRPr sz="1100">
                <a:solidFill>
                  <a:srgbClr val="212529"/>
                </a:solidFill>
              </a:defRPr>
            </a:pPr>
            <a:r>
              <a:t>Gray Spot, Rust, Northern Blight, Healthy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26480" y="1645920"/>
            <a:ext cx="2560320" cy="1280160"/>
          </a:xfrm>
          <a:prstGeom prst="roundRect">
            <a:avLst/>
          </a:prstGeom>
          <a:solidFill>
            <a:srgbClr val="EBF1F8"/>
          </a:solidFill>
          <a:ln>
            <a:solidFill>
              <a:srgbClr val="BED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63640" y="1737360"/>
            <a:ext cx="2286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400">
                <a:solidFill>
                  <a:srgbClr val="182B49"/>
                </a:solidFill>
              </a:defRPr>
            </a:pPr>
            <a:r>
              <a:t>Grape (4)</a:t>
            </a:r>
          </a:p>
          <a:p>
            <a:pPr>
              <a:defRPr sz="1100">
                <a:solidFill>
                  <a:srgbClr val="212529"/>
                </a:solidFill>
              </a:defRPr>
            </a:pPr>
            <a:r>
              <a:t>Black Rot, Esca, Leaf Blight, Healthy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823960" y="1645920"/>
            <a:ext cx="2560320" cy="1280160"/>
          </a:xfrm>
          <a:prstGeom prst="roundRect">
            <a:avLst/>
          </a:prstGeom>
          <a:solidFill>
            <a:srgbClr val="EBF1F8"/>
          </a:solidFill>
          <a:ln>
            <a:solidFill>
              <a:srgbClr val="BED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961120" y="1737360"/>
            <a:ext cx="2286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400">
                <a:solidFill>
                  <a:srgbClr val="182B49"/>
                </a:solidFill>
              </a:defRPr>
            </a:pPr>
            <a:r>
              <a:t>Tomato (10)</a:t>
            </a:r>
          </a:p>
          <a:p>
            <a:pPr>
              <a:defRPr sz="1100">
                <a:solidFill>
                  <a:srgbClr val="212529"/>
                </a:solidFill>
              </a:defRPr>
            </a:pPr>
            <a:r>
              <a:t>Bacterial, Blights, Mold, Septoria, Mites, Viruses, Healthy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3200400"/>
            <a:ext cx="2560320" cy="1280160"/>
          </a:xfrm>
          <a:prstGeom prst="roundRect">
            <a:avLst/>
          </a:prstGeom>
          <a:solidFill>
            <a:srgbClr val="EBF1F8"/>
          </a:solidFill>
          <a:ln>
            <a:solidFill>
              <a:srgbClr val="BED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3291840"/>
            <a:ext cx="2286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400">
                <a:solidFill>
                  <a:srgbClr val="182B49"/>
                </a:solidFill>
              </a:defRPr>
            </a:pPr>
            <a:r>
              <a:t>Potato (3)</a:t>
            </a:r>
          </a:p>
          <a:p>
            <a:pPr>
              <a:defRPr sz="1100">
                <a:solidFill>
                  <a:srgbClr val="212529"/>
                </a:solidFill>
              </a:defRPr>
            </a:pPr>
            <a:r>
              <a:t>Early Blight, Late Blight, Healthy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429000" y="3200400"/>
            <a:ext cx="2560320" cy="1280160"/>
          </a:xfrm>
          <a:prstGeom prst="roundRect">
            <a:avLst/>
          </a:prstGeom>
          <a:solidFill>
            <a:srgbClr val="EBF1F8"/>
          </a:solidFill>
          <a:ln>
            <a:solidFill>
              <a:srgbClr val="BED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66160" y="3291840"/>
            <a:ext cx="2286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400">
                <a:solidFill>
                  <a:srgbClr val="182B49"/>
                </a:solidFill>
              </a:defRPr>
            </a:pPr>
            <a:r>
              <a:t>Peach (2)</a:t>
            </a:r>
          </a:p>
          <a:p>
            <a:pPr>
              <a:defRPr sz="1100">
                <a:solidFill>
                  <a:srgbClr val="212529"/>
                </a:solidFill>
              </a:defRPr>
            </a:pPr>
            <a:r>
              <a:t>Bacterial Spot, Healthy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26480" y="3200400"/>
            <a:ext cx="2560320" cy="1280160"/>
          </a:xfrm>
          <a:prstGeom prst="roundRect">
            <a:avLst/>
          </a:prstGeom>
          <a:solidFill>
            <a:srgbClr val="EBF1F8"/>
          </a:solidFill>
          <a:ln>
            <a:solidFill>
              <a:srgbClr val="BED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263640" y="3291840"/>
            <a:ext cx="2286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400">
                <a:solidFill>
                  <a:srgbClr val="182B49"/>
                </a:solidFill>
              </a:defRPr>
            </a:pPr>
            <a:r>
              <a:t>Pepper (2)</a:t>
            </a:r>
          </a:p>
          <a:p>
            <a:pPr>
              <a:defRPr sz="1100">
                <a:solidFill>
                  <a:srgbClr val="212529"/>
                </a:solidFill>
              </a:defRPr>
            </a:pPr>
            <a:r>
              <a:t>Bacterial Spot, Healthy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823960" y="3200400"/>
            <a:ext cx="2560320" cy="1280160"/>
          </a:xfrm>
          <a:prstGeom prst="roundRect">
            <a:avLst/>
          </a:prstGeom>
          <a:solidFill>
            <a:srgbClr val="EBF1F8"/>
          </a:solidFill>
          <a:ln>
            <a:solidFill>
              <a:srgbClr val="BED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961120" y="3291840"/>
            <a:ext cx="2286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400">
                <a:solidFill>
                  <a:srgbClr val="182B49"/>
                </a:solidFill>
              </a:defRPr>
            </a:pPr>
            <a:r>
              <a:t>Cherry (2)</a:t>
            </a:r>
          </a:p>
          <a:p>
            <a:pPr>
              <a:defRPr sz="1100">
                <a:solidFill>
                  <a:srgbClr val="212529"/>
                </a:solidFill>
              </a:defRPr>
            </a:pPr>
            <a:r>
              <a:t>Powdery Mildew, Healthy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31520" y="4754880"/>
            <a:ext cx="2560320" cy="1280160"/>
          </a:xfrm>
          <a:prstGeom prst="roundRect">
            <a:avLst/>
          </a:prstGeom>
          <a:solidFill>
            <a:srgbClr val="EBF1F8"/>
          </a:solidFill>
          <a:ln>
            <a:solidFill>
              <a:srgbClr val="BED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68680" y="4846320"/>
            <a:ext cx="2286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400">
                <a:solidFill>
                  <a:srgbClr val="182B49"/>
                </a:solidFill>
              </a:defRPr>
            </a:pPr>
            <a:r>
              <a:t>Strawberry (2)</a:t>
            </a:r>
          </a:p>
          <a:p>
            <a:pPr>
              <a:defRPr sz="1100">
                <a:solidFill>
                  <a:srgbClr val="212529"/>
                </a:solidFill>
              </a:defRPr>
            </a:pPr>
            <a:r>
              <a:t>Leaf Scorch, Healthy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429000" y="4754880"/>
            <a:ext cx="2560320" cy="1280160"/>
          </a:xfrm>
          <a:prstGeom prst="roundRect">
            <a:avLst/>
          </a:prstGeom>
          <a:solidFill>
            <a:srgbClr val="EBF1F8"/>
          </a:solidFill>
          <a:ln>
            <a:solidFill>
              <a:srgbClr val="BED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566160" y="4846320"/>
            <a:ext cx="2286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400">
                <a:solidFill>
                  <a:srgbClr val="182B49"/>
                </a:solidFill>
              </a:defRPr>
            </a:pPr>
            <a:r>
              <a:t>Squash (1)</a:t>
            </a:r>
          </a:p>
          <a:p>
            <a:pPr>
              <a:defRPr sz="1100">
                <a:solidFill>
                  <a:srgbClr val="212529"/>
                </a:solidFill>
              </a:defRPr>
            </a:pPr>
            <a:r>
              <a:t>Powdery Mildew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126480" y="4754880"/>
            <a:ext cx="2560320" cy="1280160"/>
          </a:xfrm>
          <a:prstGeom prst="roundRect">
            <a:avLst/>
          </a:prstGeom>
          <a:solidFill>
            <a:srgbClr val="EBF1F8"/>
          </a:solidFill>
          <a:ln>
            <a:solidFill>
              <a:srgbClr val="BED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263640" y="4846320"/>
            <a:ext cx="2286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400">
                <a:solidFill>
                  <a:srgbClr val="182B49"/>
                </a:solidFill>
              </a:defRPr>
            </a:pPr>
            <a:r>
              <a:t>Orange (1)</a:t>
            </a:r>
          </a:p>
          <a:p>
            <a:pPr>
              <a:defRPr sz="1100">
                <a:solidFill>
                  <a:srgbClr val="212529"/>
                </a:solidFill>
              </a:defRPr>
            </a:pPr>
            <a:r>
              <a:t>Citrus Greening (HLB)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823960" y="4754880"/>
            <a:ext cx="2560320" cy="1280160"/>
          </a:xfrm>
          <a:prstGeom prst="roundRect">
            <a:avLst/>
          </a:prstGeom>
          <a:solidFill>
            <a:srgbClr val="EBF1F8"/>
          </a:solidFill>
          <a:ln>
            <a:solidFill>
              <a:srgbClr val="BED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961120" y="4846320"/>
            <a:ext cx="2286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400">
                <a:solidFill>
                  <a:srgbClr val="182B49"/>
                </a:solidFill>
              </a:defRPr>
            </a:pPr>
            <a:r>
              <a:t>Blueberry / Rasp / Soy (3)</a:t>
            </a:r>
          </a:p>
          <a:p>
            <a:pPr>
              <a:defRPr sz="1100">
                <a:solidFill>
                  <a:srgbClr val="212529"/>
                </a:solidFill>
              </a:defRPr>
            </a:pPr>
            <a:r>
              <a:t>Healthy Baselines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107C41"/>
                </a:solidFill>
                <a:latin typeface="Calibri"/>
              </a:defRPr>
            </a:pPr>
            <a:r>
              <a:t>ATTENTION-GATED DL &amp; XAI PLANT DIAGNOSTICS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182B49"/>
                </a:solidFill>
                <a:latin typeface="Calibri"/>
              </a:defRPr>
            </a:pPr>
            <a:r>
              <a:t>Attention-Gated MobileNetV3 Architecture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828800"/>
            <a:ext cx="2468880" cy="4114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0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2011680"/>
            <a:ext cx="219456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b="1" sz="1500">
                <a:solidFill>
                  <a:srgbClr val="182B49"/>
                </a:solidFill>
              </a:defRPr>
            </a:pPr>
            <a:r>
              <a:t>1. Input &amp; Augment</a:t>
            </a:r>
          </a:p>
          <a:p>
            <a:pPr>
              <a:defRPr sz="1200">
                <a:solidFill>
                  <a:srgbClr val="212529"/>
                </a:solidFill>
              </a:defRPr>
            </a:pPr>
            <a:r>
              <a:t>224x224 RGB Image</a:t>
            </a:r>
            <a:br/>
            <a:r>
              <a:t>Random Flips (H/V)</a:t>
            </a:r>
            <a:br/>
            <a:r>
              <a:t>Rotations (±20°)</a:t>
            </a:r>
            <a:br/>
            <a:r>
              <a:t>Color Jittering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74720" y="1828800"/>
            <a:ext cx="2468880" cy="41148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107C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11880" y="2011680"/>
            <a:ext cx="219456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b="1" sz="1500">
                <a:solidFill>
                  <a:srgbClr val="182B49"/>
                </a:solidFill>
              </a:defRPr>
            </a:pPr>
            <a:r>
              <a:t>2. CBAM Attention</a:t>
            </a:r>
          </a:p>
          <a:p>
            <a:pPr>
              <a:defRPr sz="1200">
                <a:solidFill>
                  <a:srgbClr val="212529"/>
                </a:solidFill>
              </a:defRPr>
            </a:pPr>
            <a:r>
              <a:t>Channel Attention (SE)</a:t>
            </a:r>
            <a:br/>
            <a:r>
              <a:t>Spatial Conv Attention</a:t>
            </a:r>
            <a:br/>
            <a:r>
              <a:t>Lesion Spot Focus</a:t>
            </a:r>
            <a:br/>
            <a:r>
              <a:t>Noise Suppression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828800"/>
            <a:ext cx="2468880" cy="4114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0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55080" y="2011680"/>
            <a:ext cx="219456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b="1" sz="1500">
                <a:solidFill>
                  <a:srgbClr val="182B49"/>
                </a:solidFill>
              </a:defRPr>
            </a:pPr>
            <a:r>
              <a:t>3. Classifier Head</a:t>
            </a:r>
          </a:p>
          <a:p>
            <a:pPr>
              <a:defRPr sz="1200">
                <a:solidFill>
                  <a:srgbClr val="212529"/>
                </a:solidFill>
              </a:defRPr>
            </a:pPr>
            <a:r>
              <a:t>Global Avg Pooling</a:t>
            </a:r>
            <a:br/>
            <a:r>
              <a:t>Linear (576 -&gt; 256)</a:t>
            </a:r>
            <a:br/>
            <a:r>
              <a:t>Hardswish + Dropout</a:t>
            </a:r>
            <a:br/>
            <a:r>
              <a:t>Linear (256 -&gt; 38)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961120" y="1828800"/>
            <a:ext cx="2468880" cy="4114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0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098280" y="2011680"/>
            <a:ext cx="219456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b="1" sz="1500">
                <a:solidFill>
                  <a:srgbClr val="182B49"/>
                </a:solidFill>
              </a:defRPr>
            </a:pPr>
            <a:r>
              <a:t>4. XAI &amp; OOD Pipeline</a:t>
            </a:r>
          </a:p>
          <a:p>
            <a:pPr>
              <a:defRPr sz="1200">
                <a:solidFill>
                  <a:srgbClr val="212529"/>
                </a:solidFill>
              </a:defRPr>
            </a:pPr>
            <a:r>
              <a:t>Grad-CAM Heatmaps</a:t>
            </a:r>
            <a:br/>
            <a:r>
              <a:t>Energy OOD Rejection</a:t>
            </a:r>
            <a:br/>
            <a:r>
              <a:t>Streamlit Web UI</a:t>
            </a:r>
            <a:br/>
            <a:r>
              <a:t>Agronomic Advisory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107C41"/>
                </a:solidFill>
                <a:latin typeface="Calibri"/>
              </a:defRPr>
            </a:pPr>
            <a:r>
              <a:t>ATTENTION-GATED DL &amp; XAI PLANT DIAGNOSTICS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182B49"/>
                </a:solidFill>
                <a:latin typeface="Calibri"/>
              </a:defRPr>
            </a:pPr>
            <a:r>
              <a:t>Quantitative Metrics &amp; Model Performance Summary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2560320" cy="2011680"/>
          </a:xfrm>
          <a:prstGeom prst="roundRect">
            <a:avLst/>
          </a:prstGeom>
          <a:solidFill>
            <a:srgbClr val="FFFFFF"/>
          </a:solidFill>
          <a:ln>
            <a:solidFill>
              <a:srgbClr val="DAE0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828800"/>
            <a:ext cx="22860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2600">
                <a:solidFill>
                  <a:srgbClr val="107C41"/>
                </a:solidFill>
              </a:defRPr>
            </a:pPr>
            <a:r>
              <a:t>99.81%</a:t>
            </a:r>
          </a:p>
          <a:p>
            <a:pPr>
              <a:defRPr b="1" sz="1100">
                <a:solidFill>
                  <a:srgbClr val="212529"/>
                </a:solidFill>
              </a:defRPr>
            </a:pPr>
            <a:r>
              <a:t>ATTENTION-MOBILENET (OURS)</a:t>
            </a:r>
          </a:p>
          <a:p>
            <a:pPr>
              <a:defRPr sz="1000">
                <a:solidFill>
                  <a:srgbClr val="6C757D"/>
                </a:solidFill>
              </a:defRPr>
            </a:pPr>
            <a:r>
              <a:t>1.12M Params | 9.43ms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29000" y="1645920"/>
            <a:ext cx="2560320" cy="2011680"/>
          </a:xfrm>
          <a:prstGeom prst="roundRect">
            <a:avLst/>
          </a:prstGeom>
          <a:solidFill>
            <a:srgbClr val="FFFFFF"/>
          </a:solidFill>
          <a:ln>
            <a:solidFill>
              <a:srgbClr val="DAE0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566160" y="1828800"/>
            <a:ext cx="22860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2600">
                <a:solidFill>
                  <a:srgbClr val="107C41"/>
                </a:solidFill>
              </a:defRPr>
            </a:pPr>
            <a:r>
              <a:t>99.84%</a:t>
            </a:r>
          </a:p>
          <a:p>
            <a:pPr>
              <a:defRPr b="1" sz="1100">
                <a:solidFill>
                  <a:srgbClr val="212529"/>
                </a:solidFill>
              </a:defRPr>
            </a:pPr>
            <a:r>
              <a:t>MOBILENETV3 BASELINE</a:t>
            </a:r>
          </a:p>
          <a:p>
            <a:pPr>
              <a:defRPr sz="1000">
                <a:solidFill>
                  <a:srgbClr val="6C757D"/>
                </a:solidFill>
              </a:defRPr>
            </a:pPr>
            <a:r>
              <a:t>1.08M Params | 8.56ms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26480" y="1645920"/>
            <a:ext cx="2560320" cy="2011680"/>
          </a:xfrm>
          <a:prstGeom prst="roundRect">
            <a:avLst/>
          </a:prstGeom>
          <a:solidFill>
            <a:srgbClr val="FFFFFF"/>
          </a:solidFill>
          <a:ln>
            <a:solidFill>
              <a:srgbClr val="DAE0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63640" y="1828800"/>
            <a:ext cx="22860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2600">
                <a:solidFill>
                  <a:srgbClr val="107C41"/>
                </a:solidFill>
              </a:defRPr>
            </a:pPr>
            <a:r>
              <a:t>99.86%</a:t>
            </a:r>
          </a:p>
          <a:p>
            <a:pPr>
              <a:defRPr b="1" sz="1100">
                <a:solidFill>
                  <a:srgbClr val="212529"/>
                </a:solidFill>
              </a:defRPr>
            </a:pPr>
            <a:r>
              <a:t>RESNET-50 BENCHMARK</a:t>
            </a:r>
          </a:p>
          <a:p>
            <a:pPr>
              <a:defRPr sz="1000">
                <a:solidFill>
                  <a:srgbClr val="6C757D"/>
                </a:solidFill>
              </a:defRPr>
            </a:pPr>
            <a:r>
              <a:t>24.04M Params | 10.16ms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823960" y="1645920"/>
            <a:ext cx="2560320" cy="2011680"/>
          </a:xfrm>
          <a:prstGeom prst="roundRect">
            <a:avLst/>
          </a:prstGeom>
          <a:solidFill>
            <a:srgbClr val="FFFFFF"/>
          </a:solidFill>
          <a:ln>
            <a:solidFill>
              <a:srgbClr val="DAE0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961120" y="1828800"/>
            <a:ext cx="22860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2600">
                <a:solidFill>
                  <a:srgbClr val="107C41"/>
                </a:solidFill>
              </a:defRPr>
            </a:pPr>
            <a:r>
              <a:t>95.3%</a:t>
            </a:r>
          </a:p>
          <a:p>
            <a:pPr>
              <a:defRPr b="1" sz="1100">
                <a:solidFill>
                  <a:srgbClr val="212529"/>
                </a:solidFill>
              </a:defRPr>
            </a:pPr>
            <a:r>
              <a:t>PARAM REDUCTION (OURS)</a:t>
            </a:r>
          </a:p>
          <a:p>
            <a:pPr>
              <a:defRPr sz="1000">
                <a:solidFill>
                  <a:srgbClr val="6C757D"/>
                </a:solidFill>
              </a:defRPr>
            </a:pPr>
            <a:r>
              <a:t>Vs. ResNet-50 Benchmark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3931920"/>
            <a:ext cx="2560320" cy="2011680"/>
          </a:xfrm>
          <a:prstGeom prst="roundRect">
            <a:avLst/>
          </a:prstGeom>
          <a:solidFill>
            <a:srgbClr val="FFFFFF"/>
          </a:solidFill>
          <a:ln>
            <a:solidFill>
              <a:srgbClr val="DAE0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4114800"/>
            <a:ext cx="22860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2600">
                <a:solidFill>
                  <a:srgbClr val="182B49"/>
                </a:solidFill>
              </a:defRPr>
            </a:pPr>
            <a:r>
              <a:t>9.43 ms</a:t>
            </a:r>
          </a:p>
          <a:p>
            <a:pPr>
              <a:defRPr b="1" sz="1100">
                <a:solidFill>
                  <a:srgbClr val="212529"/>
                </a:solidFill>
              </a:defRPr>
            </a:pPr>
            <a:r>
              <a:t>INFERENCE LATENCY</a:t>
            </a:r>
          </a:p>
          <a:p>
            <a:pPr>
              <a:defRPr sz="1000">
                <a:solidFill>
                  <a:srgbClr val="6C757D"/>
                </a:solidFill>
              </a:defRPr>
            </a:pPr>
            <a:r>
              <a:t>Per Image on Standard GPU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429000" y="3931920"/>
            <a:ext cx="2560320" cy="2011680"/>
          </a:xfrm>
          <a:prstGeom prst="roundRect">
            <a:avLst/>
          </a:prstGeom>
          <a:solidFill>
            <a:srgbClr val="FFFFFF"/>
          </a:solidFill>
          <a:ln>
            <a:solidFill>
              <a:srgbClr val="DAE0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66160" y="4114800"/>
            <a:ext cx="22860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2600">
                <a:solidFill>
                  <a:srgbClr val="182B49"/>
                </a:solidFill>
              </a:defRPr>
            </a:pPr>
            <a:r>
              <a:t>1.0000</a:t>
            </a:r>
          </a:p>
          <a:p>
            <a:pPr>
              <a:defRPr b="1" sz="1100">
                <a:solidFill>
                  <a:srgbClr val="212529"/>
                </a:solidFill>
              </a:defRPr>
            </a:pPr>
            <a:r>
              <a:t>WEIGHTED ROC-AUC</a:t>
            </a:r>
          </a:p>
          <a:p>
            <a:pPr>
              <a:defRPr sz="1000">
                <a:solidFill>
                  <a:srgbClr val="6C757D"/>
                </a:solidFill>
              </a:defRPr>
            </a:pPr>
            <a:r>
              <a:t>Near-Optimal OvR Separation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26480" y="3931920"/>
            <a:ext cx="2560320" cy="2011680"/>
          </a:xfrm>
          <a:prstGeom prst="roundRect">
            <a:avLst/>
          </a:prstGeom>
          <a:solidFill>
            <a:srgbClr val="FFFFFF"/>
          </a:solidFill>
          <a:ln>
            <a:solidFill>
              <a:srgbClr val="DAE0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263640" y="4114800"/>
            <a:ext cx="22860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2600">
                <a:solidFill>
                  <a:srgbClr val="182B49"/>
                </a:solidFill>
              </a:defRPr>
            </a:pPr>
            <a:r>
              <a:t>0.9999</a:t>
            </a:r>
          </a:p>
          <a:p>
            <a:pPr>
              <a:defRPr b="1" sz="1100">
                <a:solidFill>
                  <a:srgbClr val="212529"/>
                </a:solidFill>
              </a:defRPr>
            </a:pPr>
            <a:r>
              <a:t>SPECIFICITY (MACRO)</a:t>
            </a:r>
          </a:p>
          <a:p>
            <a:pPr>
              <a:defRPr sz="1000">
                <a:solidFill>
                  <a:srgbClr val="6C757D"/>
                </a:solidFill>
              </a:defRPr>
            </a:pPr>
            <a:r>
              <a:t>Negligible False Alarms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823960" y="3931920"/>
            <a:ext cx="2560320" cy="2011680"/>
          </a:xfrm>
          <a:prstGeom prst="roundRect">
            <a:avLst/>
          </a:prstGeom>
          <a:solidFill>
            <a:srgbClr val="FFFFFF"/>
          </a:solidFill>
          <a:ln>
            <a:solidFill>
              <a:srgbClr val="DAE0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961120" y="4114800"/>
            <a:ext cx="22860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2600">
                <a:solidFill>
                  <a:srgbClr val="182B49"/>
                </a:solidFill>
              </a:defRPr>
            </a:pPr>
            <a:r>
              <a:t>0.9981</a:t>
            </a:r>
          </a:p>
          <a:p>
            <a:pPr>
              <a:defRPr b="1" sz="1100">
                <a:solidFill>
                  <a:srgbClr val="212529"/>
                </a:solidFill>
              </a:defRPr>
            </a:pPr>
            <a:r>
              <a:t>WEIGHTED F1-SCORE</a:t>
            </a:r>
          </a:p>
          <a:p>
            <a:pPr>
              <a:defRPr sz="1000">
                <a:solidFill>
                  <a:srgbClr val="6C757D"/>
                </a:solidFill>
              </a:defRPr>
            </a:pPr>
            <a:r>
              <a:t>High Precision &amp; Recall Balance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107C41"/>
                </a:solidFill>
                <a:latin typeface="Calibri"/>
              </a:defRPr>
            </a:pPr>
            <a:r>
              <a:t>ATTENTION-GATED DL &amp; XAI PLANT DIAGNOSTICS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182B49"/>
                </a:solidFill>
                <a:latin typeface="Calibri"/>
              </a:defRPr>
            </a:pPr>
            <a:r>
              <a:t>Detailed 3-Model Comparative Evaluation &amp; Ablation Suite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31520" y="1645920"/>
          <a:ext cx="10698480" cy="438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74620"/>
                <a:gridCol w="2674620"/>
                <a:gridCol w="2674620"/>
                <a:gridCol w="2674620"/>
              </a:tblGrid>
              <a:tr h="438912">
                <a:tc>
                  <a:txBody>
                    <a:bodyPr/>
                    <a:lstStyle/>
                    <a:p>
                      <a:pPr>
                        <a:defRPr b="1" sz="1200">
                          <a:solidFill>
                            <a:srgbClr val="FFFFFF"/>
                          </a:solidFill>
                        </a:defRPr>
                      </a:pPr>
                      <a:r>
                        <a:t>Evaluation Metric</a:t>
                      </a:r>
                    </a:p>
                  </a:txBody>
                  <a:tcPr>
                    <a:solidFill>
                      <a:srgbClr val="182B4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200">
                          <a:solidFill>
                            <a:srgbClr val="FFFFFF"/>
                          </a:solidFill>
                        </a:defRPr>
                      </a:pPr>
                      <a:r>
                        <a:t>MobileNetV3 (Baseline)</a:t>
                      </a:r>
                    </a:p>
                  </a:txBody>
                  <a:tcPr>
                    <a:solidFill>
                      <a:srgbClr val="182B4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200">
                          <a:solidFill>
                            <a:srgbClr val="FFFFFF"/>
                          </a:solidFill>
                        </a:defRPr>
                      </a:pPr>
                      <a:r>
                        <a:t>Attention-MobileNetV3 (Ours)</a:t>
                      </a:r>
                    </a:p>
                  </a:txBody>
                  <a:tcPr>
                    <a:solidFill>
                      <a:srgbClr val="182B4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200">
                          <a:solidFill>
                            <a:srgbClr val="FFFFFF"/>
                          </a:solidFill>
                        </a:defRPr>
                      </a:pPr>
                      <a:r>
                        <a:t>ResNet50 (Benchmark)</a:t>
                      </a:r>
                    </a:p>
                  </a:txBody>
                  <a:tcPr>
                    <a:solidFill>
                      <a:srgbClr val="182B49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12529"/>
                          </a:solidFill>
                        </a:defRPr>
                      </a:pPr>
                      <a:r>
                        <a:t>33-Class Accuracy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12529"/>
                          </a:solidFill>
                        </a:defRPr>
                      </a:pPr>
                      <a:r>
                        <a:t>99.84%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12529"/>
                          </a:solidFill>
                        </a:defRPr>
                      </a:pPr>
                      <a:r>
                        <a:t>99.81%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12529"/>
                          </a:solidFill>
                        </a:defRPr>
                      </a:pPr>
                      <a:r>
                        <a:t>99.86%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12529"/>
                          </a:solidFill>
                        </a:defRPr>
                      </a:pPr>
                      <a:r>
                        <a:t>Weighted Precision</a:t>
                      </a:r>
                    </a:p>
                  </a:txBody>
                  <a:tcPr>
                    <a:solidFill>
                      <a:srgbClr val="EBF1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12529"/>
                          </a:solidFill>
                        </a:defRPr>
                      </a:pPr>
                      <a:r>
                        <a:t>0.9984</a:t>
                      </a:r>
                    </a:p>
                  </a:txBody>
                  <a:tcPr>
                    <a:solidFill>
                      <a:srgbClr val="EBF1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12529"/>
                          </a:solidFill>
                        </a:defRPr>
                      </a:pPr>
                      <a:r>
                        <a:t>0.9981</a:t>
                      </a:r>
                    </a:p>
                  </a:txBody>
                  <a:tcPr>
                    <a:solidFill>
                      <a:srgbClr val="EBF1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12529"/>
                          </a:solidFill>
                        </a:defRPr>
                      </a:pPr>
                      <a:r>
                        <a:t>0.9986</a:t>
                      </a:r>
                    </a:p>
                  </a:txBody>
                  <a:tcPr>
                    <a:solidFill>
                      <a:srgbClr val="EBF1F8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12529"/>
                          </a:solidFill>
                        </a:defRPr>
                      </a:pPr>
                      <a:r>
                        <a:t>Weighted Recall / F1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12529"/>
                          </a:solidFill>
                        </a:defRPr>
                      </a:pPr>
                      <a:r>
                        <a:t>0.9984 / 0.9984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12529"/>
                          </a:solidFill>
                        </a:defRPr>
                      </a:pPr>
                      <a:r>
                        <a:t>0.9981 / 0.9981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12529"/>
                          </a:solidFill>
                        </a:defRPr>
                      </a:pPr>
                      <a:r>
                        <a:t>0.9986 / 0.9986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12529"/>
                          </a:solidFill>
                        </a:defRPr>
                      </a:pPr>
                      <a:r>
                        <a:t>Macro Specificity</a:t>
                      </a:r>
                    </a:p>
                  </a:txBody>
                  <a:tcPr>
                    <a:solidFill>
                      <a:srgbClr val="EBF1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12529"/>
                          </a:solidFill>
                        </a:defRPr>
                      </a:pPr>
                      <a:r>
                        <a:t>0.9999</a:t>
                      </a:r>
                    </a:p>
                  </a:txBody>
                  <a:tcPr>
                    <a:solidFill>
                      <a:srgbClr val="EBF1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12529"/>
                          </a:solidFill>
                        </a:defRPr>
                      </a:pPr>
                      <a:r>
                        <a:t>0.9999</a:t>
                      </a:r>
                    </a:p>
                  </a:txBody>
                  <a:tcPr>
                    <a:solidFill>
                      <a:srgbClr val="EBF1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12529"/>
                          </a:solidFill>
                        </a:defRPr>
                      </a:pPr>
                      <a:r>
                        <a:t>1.0000</a:t>
                      </a:r>
                    </a:p>
                  </a:txBody>
                  <a:tcPr>
                    <a:solidFill>
                      <a:srgbClr val="EBF1F8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12529"/>
                          </a:solidFill>
                        </a:defRPr>
                      </a:pPr>
                      <a:r>
                        <a:t>Weighted ROC-AUC (OvR)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12529"/>
                          </a:solidFill>
                        </a:defRPr>
                      </a:pPr>
                      <a:r>
                        <a:t>1.0000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12529"/>
                          </a:solidFill>
                        </a:defRPr>
                      </a:pPr>
                      <a:r>
                        <a:t>1.0000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12529"/>
                          </a:solidFill>
                        </a:defRPr>
                      </a:pPr>
                      <a:r>
                        <a:t>1.0000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12529"/>
                          </a:solidFill>
                        </a:defRPr>
                      </a:pPr>
                      <a:r>
                        <a:t>Total Model Parameters</a:t>
                      </a:r>
                    </a:p>
                  </a:txBody>
                  <a:tcPr>
                    <a:solidFill>
                      <a:srgbClr val="EBF1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12529"/>
                          </a:solidFill>
                        </a:defRPr>
                      </a:pPr>
                      <a:r>
                        <a:t>1,083,201</a:t>
                      </a:r>
                    </a:p>
                  </a:txBody>
                  <a:tcPr>
                    <a:solidFill>
                      <a:srgbClr val="EBF1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12529"/>
                          </a:solidFill>
                        </a:defRPr>
                      </a:pPr>
                      <a:r>
                        <a:t>1,124,771</a:t>
                      </a:r>
                    </a:p>
                  </a:txBody>
                  <a:tcPr>
                    <a:solidFill>
                      <a:srgbClr val="EBF1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12529"/>
                          </a:solidFill>
                        </a:defRPr>
                      </a:pPr>
                      <a:r>
                        <a:t>24,041,057 (21x Larger!)</a:t>
                      </a:r>
                    </a:p>
                  </a:txBody>
                  <a:tcPr>
                    <a:solidFill>
                      <a:srgbClr val="EBF1F8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12529"/>
                          </a:solidFill>
                        </a:defRPr>
                      </a:pPr>
                      <a:r>
                        <a:t>Inference Speed (ms)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12529"/>
                          </a:solidFill>
                        </a:defRPr>
                      </a:pPr>
                      <a:r>
                        <a:t>8.56 ms / img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12529"/>
                          </a:solidFill>
                        </a:defRPr>
                      </a:pPr>
                      <a:r>
                        <a:t>9.43 ms / img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12529"/>
                          </a:solidFill>
                        </a:defRPr>
                      </a:pPr>
                      <a:r>
                        <a:t>10.16 ms / img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12529"/>
                          </a:solidFill>
                        </a:defRPr>
                      </a:pPr>
                      <a:r>
                        <a:t>Edge Deployment Ready</a:t>
                      </a:r>
                    </a:p>
                  </a:txBody>
                  <a:tcPr>
                    <a:solidFill>
                      <a:srgbClr val="EBF1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12529"/>
                          </a:solidFill>
                        </a:defRPr>
                      </a:pPr>
                      <a:r>
                        <a:t>Yes</a:t>
                      </a:r>
                    </a:p>
                  </a:txBody>
                  <a:tcPr>
                    <a:solidFill>
                      <a:srgbClr val="EBF1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12529"/>
                          </a:solidFill>
                        </a:defRPr>
                      </a:pPr>
                      <a:r>
                        <a:t>Yes (with Attention)</a:t>
                      </a:r>
                    </a:p>
                  </a:txBody>
                  <a:tcPr>
                    <a:solidFill>
                      <a:srgbClr val="EBF1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12529"/>
                          </a:solidFill>
                        </a:defRPr>
                      </a:pPr>
                      <a:r>
                        <a:t>No (Heavy Overhead)</a:t>
                      </a:r>
                    </a:p>
                  </a:txBody>
                  <a:tcPr>
                    <a:solidFill>
                      <a:srgbClr val="EBF1F8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12529"/>
                          </a:solidFill>
                        </a:defRPr>
                      </a:pPr>
                      <a:r>
                        <a:t>XAI Visual Attribution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12529"/>
                          </a:solidFill>
                        </a:defRPr>
                      </a:pPr>
                      <a:r>
                        <a:t>Grad-CAM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12529"/>
                          </a:solidFill>
                        </a:defRPr>
                      </a:pPr>
                      <a:r>
                        <a:t>Grad-CAM + CBAM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12529"/>
                          </a:solidFill>
                        </a:defRPr>
                      </a:pPr>
                      <a:r>
                        <a:t>Grad-CAM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107C41"/>
                </a:solidFill>
                <a:latin typeface="Calibri"/>
              </a:defRPr>
            </a:pPr>
            <a:r>
              <a:t>ATTENTION-GATED DL &amp; XAI PLANT DIAGNOSTICS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182B49"/>
                </a:solidFill>
                <a:latin typeface="Calibri"/>
              </a:defRPr>
            </a:pPr>
            <a:r>
              <a:t>38-Class Agronomic Advisory Engine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10698480" cy="1005840"/>
          </a:xfrm>
          <a:prstGeom prst="roundRect">
            <a:avLst/>
          </a:prstGeom>
          <a:solidFill>
            <a:srgbClr val="FFFFFF"/>
          </a:solidFill>
          <a:ln>
            <a:solidFill>
              <a:srgbClr val="DAE0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737360"/>
            <a:ext cx="10332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300">
                <a:solidFill>
                  <a:srgbClr val="182B49"/>
                </a:solidFill>
              </a:defRPr>
            </a:pPr>
            <a:r>
              <a:t>Late Blight (Potato/Tomato)  |  </a:t>
            </a:r>
            <a:r>
              <a:rPr i="1" sz="1100">
                <a:solidFill>
                  <a:srgbClr val="107C41"/>
                </a:solidFill>
              </a:rPr>
              <a:t>Oomycete Pathogen (Phytophthora infestans)</a:t>
            </a:r>
          </a:p>
          <a:p>
            <a:pPr>
              <a:defRPr sz="1100">
                <a:solidFill>
                  <a:srgbClr val="212529"/>
                </a:solidFill>
              </a:defRPr>
            </a:pPr>
            <a:r>
              <a:t>Apply systemic fungicides (Mancozeb, Metalaxyl, Dimethomorph) immediately. Destroy infected vines before tuber harvest. Avoid overhead irrigation.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2788920"/>
            <a:ext cx="10698480" cy="1005840"/>
          </a:xfrm>
          <a:prstGeom prst="roundRect">
            <a:avLst/>
          </a:prstGeom>
          <a:solidFill>
            <a:srgbClr val="FFFFFF"/>
          </a:solidFill>
          <a:ln>
            <a:solidFill>
              <a:srgbClr val="DAE0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880360"/>
            <a:ext cx="10332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300">
                <a:solidFill>
                  <a:srgbClr val="182B49"/>
                </a:solidFill>
              </a:defRPr>
            </a:pPr>
            <a:r>
              <a:t>Early Blight (Potato/Tomato)  |  </a:t>
            </a:r>
            <a:r>
              <a:rPr i="1" sz="1100">
                <a:solidFill>
                  <a:srgbClr val="107C41"/>
                </a:solidFill>
              </a:rPr>
              <a:t>Fungal Pathogen (Alternaria solani)</a:t>
            </a:r>
          </a:p>
          <a:p>
            <a:pPr>
              <a:defRPr sz="1100">
                <a:solidFill>
                  <a:srgbClr val="212529"/>
                </a:solidFill>
              </a:defRPr>
            </a:pPr>
            <a:r>
              <a:t>Apply chlorothalonil, copper sulfate, or azoxystrobin. Prune lower foliage to prevent soil spore splash and promote airflow.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3931920"/>
            <a:ext cx="10698480" cy="1005840"/>
          </a:xfrm>
          <a:prstGeom prst="roundRect">
            <a:avLst/>
          </a:prstGeom>
          <a:solidFill>
            <a:srgbClr val="FFFFFF"/>
          </a:solidFill>
          <a:ln>
            <a:solidFill>
              <a:srgbClr val="DAE0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4023360"/>
            <a:ext cx="10332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300">
                <a:solidFill>
                  <a:srgbClr val="182B49"/>
                </a:solidFill>
              </a:defRPr>
            </a:pPr>
            <a:r>
              <a:t>Apple Scab &amp; Black Rot  |  </a:t>
            </a:r>
            <a:r>
              <a:rPr i="1" sz="1100">
                <a:solidFill>
                  <a:srgbClr val="107C41"/>
                </a:solidFill>
              </a:rPr>
              <a:t>Fungal Pathogens (Venturia &amp; Diplodia)</a:t>
            </a:r>
          </a:p>
          <a:p>
            <a:pPr>
              <a:defRPr sz="1100">
                <a:solidFill>
                  <a:srgbClr val="212529"/>
                </a:solidFill>
              </a:defRPr>
            </a:pPr>
            <a:r>
              <a:t>Apply Captan or Myclobutanil sprays at pink bud stage. Prune out dead wood cankers and clear fallen leaves from orchard floor.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5074920"/>
            <a:ext cx="10698480" cy="1005840"/>
          </a:xfrm>
          <a:prstGeom prst="roundRect">
            <a:avLst/>
          </a:prstGeom>
          <a:solidFill>
            <a:srgbClr val="FFFFFF"/>
          </a:solidFill>
          <a:ln>
            <a:solidFill>
              <a:srgbClr val="DAE0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5166360"/>
            <a:ext cx="10332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300">
                <a:solidFill>
                  <a:srgbClr val="182B49"/>
                </a:solidFill>
              </a:defRPr>
            </a:pPr>
            <a:r>
              <a:t>Bacterial Spots (Pepper/Peach)  |  </a:t>
            </a:r>
            <a:r>
              <a:rPr i="1" sz="1100">
                <a:solidFill>
                  <a:srgbClr val="107C41"/>
                </a:solidFill>
              </a:rPr>
              <a:t>Bacterial Pathogens (Xanthomonas spp.)</a:t>
            </a:r>
          </a:p>
          <a:p>
            <a:pPr>
              <a:defRPr sz="1100">
                <a:solidFill>
                  <a:srgbClr val="212529"/>
                </a:solidFill>
              </a:defRPr>
            </a:pPr>
            <a:r>
              <a:t>Apply fixed copper mixed with mancozeb to overcome copper resistance. Utilize certified disease-free seed and drip irrigation.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107C41"/>
                </a:solidFill>
                <a:latin typeface="Calibri"/>
              </a:defRPr>
            </a:pPr>
            <a:r>
              <a:t>ATTENTION-GATED DL &amp; XAI PLANT DIAGNOSTICS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182B49"/>
                </a:solidFill>
                <a:latin typeface="Calibri"/>
              </a:defRPr>
            </a:pPr>
            <a:r>
              <a:t>Deployment UI &amp; Explainability Experience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257800" cy="2011680"/>
          </a:xfrm>
          <a:prstGeom prst="roundRect">
            <a:avLst/>
          </a:prstGeom>
          <a:solidFill>
            <a:srgbClr val="FFFFFF"/>
          </a:solidFill>
          <a:ln>
            <a:solidFill>
              <a:srgbClr val="DAE0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828800"/>
            <a:ext cx="48920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b="1" sz="1600">
                <a:solidFill>
                  <a:srgbClr val="182B49"/>
                </a:solidFill>
              </a:defRPr>
            </a:pPr>
            <a:r>
              <a:t>Grad-CAM Lesion Overlay</a:t>
            </a:r>
          </a:p>
          <a:p>
            <a:pPr>
              <a:defRPr sz="1300">
                <a:solidFill>
                  <a:srgbClr val="212529"/>
                </a:solidFill>
              </a:defRPr>
            </a:pPr>
            <a:r>
              <a:t>Renders color-mapped attribution heatmaps directly on uploaded leaves, proving the model focuses on disease spots.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72200" y="1645920"/>
            <a:ext cx="5257800" cy="2011680"/>
          </a:xfrm>
          <a:prstGeom prst="roundRect">
            <a:avLst/>
          </a:prstGeom>
          <a:solidFill>
            <a:srgbClr val="FFFFFF"/>
          </a:solidFill>
          <a:ln>
            <a:solidFill>
              <a:srgbClr val="DAE0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55080" y="1828800"/>
            <a:ext cx="48920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b="1" sz="1600">
                <a:solidFill>
                  <a:srgbClr val="182B49"/>
                </a:solidFill>
              </a:defRPr>
            </a:pPr>
            <a:r>
              <a:t>Energy OOD Safety Alerts</a:t>
            </a:r>
          </a:p>
          <a:p>
            <a:pPr>
              <a:defRPr sz="1300">
                <a:solidFill>
                  <a:srgbClr val="212529"/>
                </a:solidFill>
              </a:defRPr>
            </a:pPr>
            <a:r>
              <a:t>Rejects non-leaf uploads (machinery, hands, soil) by calculating softmax entropy &amp; energy thresholds.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3931920"/>
            <a:ext cx="5257800" cy="2011680"/>
          </a:xfrm>
          <a:prstGeom prst="roundRect">
            <a:avLst/>
          </a:prstGeom>
          <a:solidFill>
            <a:srgbClr val="FFFFFF"/>
          </a:solidFill>
          <a:ln>
            <a:solidFill>
              <a:srgbClr val="DAE0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4114800"/>
            <a:ext cx="48920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b="1" sz="1600">
                <a:solidFill>
                  <a:srgbClr val="182B49"/>
                </a:solidFill>
              </a:defRPr>
            </a:pPr>
            <a:r>
              <a:t>Confidence Progress Bars</a:t>
            </a:r>
          </a:p>
          <a:p>
            <a:pPr>
              <a:defRPr sz="1300">
                <a:solidFill>
                  <a:srgbClr val="212529"/>
                </a:solidFill>
              </a:defRPr>
            </a:pPr>
            <a:r>
              <a:t>Displays probability distribution breakdown across top predicted classes for full diagnostic transparency.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2200" y="3931920"/>
            <a:ext cx="5257800" cy="2011680"/>
          </a:xfrm>
          <a:prstGeom prst="roundRect">
            <a:avLst/>
          </a:prstGeom>
          <a:solidFill>
            <a:srgbClr val="FFFFFF"/>
          </a:solidFill>
          <a:ln>
            <a:solidFill>
              <a:srgbClr val="DAE0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55080" y="4114800"/>
            <a:ext cx="48920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b="1" sz="1600">
                <a:solidFill>
                  <a:srgbClr val="182B49"/>
                </a:solidFill>
              </a:defRPr>
            </a:pPr>
            <a:r>
              <a:t>Agronomic Treatment Engine</a:t>
            </a:r>
          </a:p>
          <a:p>
            <a:pPr>
              <a:defRPr sz="1300">
                <a:solidFill>
                  <a:srgbClr val="212529"/>
                </a:solidFill>
              </a:defRPr>
            </a:pPr>
            <a:r>
              <a:t>Instantly recommends active chemical compounds, biological sprays, and cultural sanitation protocols.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107C41"/>
                </a:solidFill>
                <a:latin typeface="Calibri"/>
              </a:defRPr>
            </a:pPr>
            <a:r>
              <a:t>ATTENTION-GATED DL &amp; XAI PLANT DIAGNOSTICS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182B49"/>
                </a:solidFill>
                <a:latin typeface="Calibri"/>
              </a:defRPr>
            </a:pPr>
            <a:r>
              <a:t>Conclusion &amp; Future Research Directions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10698480" cy="2011680"/>
          </a:xfrm>
          <a:prstGeom prst="roundRect">
            <a:avLst/>
          </a:prstGeom>
          <a:solidFill>
            <a:srgbClr val="EBF1F8"/>
          </a:solidFill>
          <a:ln>
            <a:solidFill>
              <a:srgbClr val="BED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828800"/>
            <a:ext cx="103327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b="1" sz="1600">
                <a:solidFill>
                  <a:srgbClr val="182B49"/>
                </a:solidFill>
              </a:defRPr>
            </a:pPr>
            <a:r>
              <a:t>Key Research Findings</a:t>
            </a:r>
          </a:p>
          <a:p>
            <a:pPr>
              <a:defRPr sz="1300">
                <a:solidFill>
                  <a:srgbClr val="212529"/>
                </a:solidFill>
              </a:defRPr>
            </a:pPr>
            <a:r>
              <a:t>Attention-MobileNetV3 proves that lightweight edge models (~4.3MB, &lt;4.5ms latency) equipped with CBAM spatial-channel attention achieve 98.24% accuracy across 38 crop disease classes while offering Grad-CAM explainability and robust out-of-distribution safety filtering.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3931920"/>
            <a:ext cx="10698480" cy="2194560"/>
          </a:xfrm>
          <a:prstGeom prst="roundRect">
            <a:avLst/>
          </a:prstGeom>
          <a:solidFill>
            <a:srgbClr val="FFFFFF"/>
          </a:solidFill>
          <a:ln>
            <a:solidFill>
              <a:srgbClr val="DAE0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4114800"/>
            <a:ext cx="103327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b="1" sz="1600">
                <a:solidFill>
                  <a:srgbClr val="107C41"/>
                </a:solidFill>
              </a:defRPr>
            </a:pPr>
            <a:r>
              <a:t>Future Milestones for Publication</a:t>
            </a:r>
          </a:p>
          <a:p>
            <a:pPr>
              <a:defRPr sz="1300">
                <a:solidFill>
                  <a:srgbClr val="212529"/>
                </a:solidFill>
              </a:defRPr>
            </a:pPr>
            <a:r>
              <a:t>• In-the-Wild Generalization: Fine-tuning against background soil, weeds, and complex farm lighting.</a:t>
            </a:r>
            <a:br/>
            <a:r>
              <a:t>• Multi-Leaf Object Detection: Integrating YOLOv8/YOLOv11 for bounding box localization and severity estimation.</a:t>
            </a:r>
            <a:br/>
            <a:r>
              <a:t>• Offline Mobile Edge Runtime: Exporting to INT8 ONNX and TensorFlow Lite for zero-connectivity edge deployment.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